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107C41"/>
    <a:srgbClr val="A2F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9221-4D06-A83B-5E54-3E9645F31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E8786-1E9A-B787-92DE-3C0E6CE7A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05B66-A5F6-77B0-2A57-31C533B9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195F-53F0-2D42-6DC3-D8572171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C27CE-0D83-2440-471F-86EC1A2B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92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F2B5-C201-8A55-9A73-F7C9BDCC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E14B0-91AE-7618-3F20-93026A1C3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C4E85-C2EF-62AF-9777-6D5F2240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6B644-FF1C-07DA-CDBB-1B371269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73B45-1422-102A-E69C-CCEBF47E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43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8EADF-F1DF-43EA-B60B-7D1810BD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F6C61-CABB-526B-AAAD-6CD6838B2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0CEE-4306-1C0B-DAE4-E4AD8E51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995A4-B5F3-347C-1D19-F97625FD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2D4AA-EFD7-42F1-A848-B9FF1019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10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0F5E-FC6C-28E2-ACDC-76BED41E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D1C52-B3B5-6CBF-14EF-5733EC2DD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8708-1417-B5AB-172E-2BD079FF0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C8C80-8B6B-2C3C-04D1-C9F687A7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8C4E-6166-B309-B671-1A58AA93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B8923-86E3-5036-2CC6-AC9AAE69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1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5AF9-A606-4AFD-861E-986C70B1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199A5-7403-BDED-24B5-7A9494CB1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38495-DB50-1859-A000-262B95D2C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A3AC7-F295-1D84-B280-F83EF8955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76D5C-0904-D068-0D8A-DF12314E9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F11D4B-446A-3ECF-5C9B-6C2507776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9F800-BD86-EAE7-4F45-05088203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395E1-4E83-79D1-7A5A-56CF5003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35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C034-4968-CC40-9441-26789C50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A7AD32-15A0-0656-49D2-4A743230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D1EE5-B09A-F4E9-6977-31AB5AB6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115D9-2EB4-868F-3A9A-FCF30D2C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82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CF6F8-CFFD-4199-02F7-174C7454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8D861-F47A-E722-5546-BEE3C256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98196-6E5D-539C-65BE-0F5ED81C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67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B293-2B48-D135-083F-4B2B5018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6AB9-77F2-9704-8B41-F1E2B87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BD9EA-3064-A97E-1788-208002649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E3DB9-7AB1-F220-1052-3370C417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0DA99-F1D1-BE81-B1EB-684BC58F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1A2B6-56AD-2C9D-B0A2-922055E3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81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5D50-752B-5D0B-A5E8-9DACC219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2038D-1C46-77C0-A25B-22ACA0027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EF3FB-6F09-D017-6104-7DB3AB50B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F47FF-DF61-A9BD-2D55-2A1EC1C8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7273A-D797-1BD2-FA04-AA2A8ED5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1E7C3-0E6D-945D-74B3-FD2C63F4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9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2A3E-B816-4717-8BB3-880E2193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FA4EE-E63A-F854-FC93-31C2C82A0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AB457-1A5E-668E-836F-FB0B351F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48F8-1626-AD82-0407-6E86E6FC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C6EFC-4F1F-756E-5BAC-26D7383A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6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5D9CE-08CC-9B23-1B1A-786DF0252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BA3F5-376F-4DA8-9D1F-CEEDE9701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A1C18-126C-3AEB-2140-F46CF0D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4AFF4-340A-9A4C-E372-61F2702C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DCB0A-C55B-DF15-882A-A9CB5A5E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0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2EFD5-4BF4-948A-15C6-530F8CDA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C0BC6-3915-2A2E-48AC-C54F63091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A4918-2144-81E4-1F19-7DF74088B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DAF4C-065A-4E9A-ABE5-90DE7AC6653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CA052-DE69-3EB5-A197-A5C0BAF60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800E2-6EC6-C03A-66EB-8C81DFEA5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0DFF-D623-421A-9C02-31F50C49D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05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FCBC2E-7A66-6C8E-909E-E8308DF63D3C}"/>
              </a:ext>
            </a:extLst>
          </p:cNvPr>
          <p:cNvSpPr txBox="1"/>
          <p:nvPr/>
        </p:nvSpPr>
        <p:spPr>
          <a:xfrm>
            <a:off x="3104530" y="2482399"/>
            <a:ext cx="598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ptos" panose="020B0004020202020204" pitchFamily="34" charset="0"/>
              </a:rPr>
              <a:t>Interactive Sales Analysis using Microsoft Excel</a:t>
            </a:r>
            <a:endParaRPr lang="en-IN" i="1" dirty="0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1F5E1E-346F-CA22-9847-2A3E302EBCF8}"/>
              </a:ext>
            </a:extLst>
          </p:cNvPr>
          <p:cNvSpPr/>
          <p:nvPr/>
        </p:nvSpPr>
        <p:spPr>
          <a:xfrm>
            <a:off x="4236195" y="1266354"/>
            <a:ext cx="371960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cap="none" spc="0" dirty="0">
                <a:ln w="0"/>
                <a:solidFill>
                  <a:schemeClr val="accent1">
                    <a:lumMod val="50000"/>
                  </a:schemeClr>
                </a:solidFill>
              </a:rPr>
              <a:t>Global Superstore </a:t>
            </a:r>
          </a:p>
          <a:p>
            <a:pPr algn="ctr"/>
            <a:r>
              <a:rPr lang="en-IN" sz="3600" b="1" cap="none" spc="0" dirty="0">
                <a:ln w="0"/>
                <a:solidFill>
                  <a:schemeClr val="accent1">
                    <a:lumMod val="50000"/>
                  </a:schemeClr>
                </a:solidFill>
              </a:rPr>
              <a:t>Sales Dashboard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AE081D-3179-4B50-C236-D773334CA0F5}"/>
              </a:ext>
            </a:extLst>
          </p:cNvPr>
          <p:cNvCxnSpPr>
            <a:cxnSpLocks/>
          </p:cNvCxnSpPr>
          <p:nvPr/>
        </p:nvCxnSpPr>
        <p:spPr>
          <a:xfrm>
            <a:off x="4380269" y="2938076"/>
            <a:ext cx="343146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677B78D-F639-3170-7E78-7C43B2A10D64}"/>
              </a:ext>
            </a:extLst>
          </p:cNvPr>
          <p:cNvSpPr/>
          <p:nvPr/>
        </p:nvSpPr>
        <p:spPr>
          <a:xfrm>
            <a:off x="6056666" y="2903663"/>
            <a:ext cx="78658" cy="688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FE5E01-2AEE-34DC-16B0-6AA2294C610F}"/>
              </a:ext>
            </a:extLst>
          </p:cNvPr>
          <p:cNvSpPr txBox="1"/>
          <p:nvPr/>
        </p:nvSpPr>
        <p:spPr>
          <a:xfrm>
            <a:off x="5388864" y="3468624"/>
            <a:ext cx="13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Powered by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B6AEC-0075-E6DE-5FF2-76A68278306C}"/>
              </a:ext>
            </a:extLst>
          </p:cNvPr>
          <p:cNvSpPr txBox="1"/>
          <p:nvPr/>
        </p:nvSpPr>
        <p:spPr>
          <a:xfrm>
            <a:off x="5333478" y="3779520"/>
            <a:ext cx="1525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Masoom Raza</a:t>
            </a:r>
            <a:endParaRPr lang="en-IN" b="1" dirty="0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9A7F0D8B-6546-5D22-1594-99559787F9A7}"/>
              </a:ext>
            </a:extLst>
          </p:cNvPr>
          <p:cNvSpPr/>
          <p:nvPr/>
        </p:nvSpPr>
        <p:spPr>
          <a:xfrm rot="5400000">
            <a:off x="-30480" y="30480"/>
            <a:ext cx="1950720" cy="188976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2A73F25-C22D-50A8-A1D8-4B2A9658F964}"/>
              </a:ext>
            </a:extLst>
          </p:cNvPr>
          <p:cNvSpPr/>
          <p:nvPr/>
        </p:nvSpPr>
        <p:spPr>
          <a:xfrm rot="5400000">
            <a:off x="-30480" y="30480"/>
            <a:ext cx="1473200" cy="1412240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D51A98D0-1D48-416A-E039-49F8D50AE58D}"/>
              </a:ext>
            </a:extLst>
          </p:cNvPr>
          <p:cNvSpPr/>
          <p:nvPr/>
        </p:nvSpPr>
        <p:spPr>
          <a:xfrm rot="16200000">
            <a:off x="10271760" y="4937760"/>
            <a:ext cx="1950720" cy="188976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02EAAF9-1F66-7C41-71A0-FD758CB88BC5}"/>
              </a:ext>
            </a:extLst>
          </p:cNvPr>
          <p:cNvSpPr/>
          <p:nvPr/>
        </p:nvSpPr>
        <p:spPr>
          <a:xfrm rot="16200000">
            <a:off x="10749280" y="5415280"/>
            <a:ext cx="1473200" cy="1412240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1334AE6-7FAB-E12F-1244-FB98C93D2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155838" y="4368503"/>
            <a:ext cx="466051" cy="4341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5816BA-7049-45A3-C13F-E96A20C26AB2}"/>
              </a:ext>
            </a:extLst>
          </p:cNvPr>
          <p:cNvSpPr txBox="1"/>
          <p:nvPr/>
        </p:nvSpPr>
        <p:spPr>
          <a:xfrm>
            <a:off x="5621889" y="4368503"/>
            <a:ext cx="161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07C41"/>
                </a:solidFill>
              </a:rPr>
              <a:t>Microsoft Excel</a:t>
            </a:r>
            <a:endParaRPr lang="en-IN" dirty="0">
              <a:solidFill>
                <a:srgbClr val="107C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5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8D0021-DEE9-DD11-20E6-736BCB8DFCC3}"/>
              </a:ext>
            </a:extLst>
          </p:cNvPr>
          <p:cNvSpPr txBox="1"/>
          <p:nvPr/>
        </p:nvSpPr>
        <p:spPr>
          <a:xfrm>
            <a:off x="548640" y="355600"/>
            <a:ext cx="2419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Dashboard Overview</a:t>
            </a:r>
            <a:endParaRPr lang="en-IN" sz="2000" b="1" dirty="0">
              <a:solidFill>
                <a:srgbClr val="00206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474423-0FD7-F47C-2D41-6DA3CD10103F}"/>
              </a:ext>
            </a:extLst>
          </p:cNvPr>
          <p:cNvCxnSpPr>
            <a:cxnSpLocks/>
          </p:cNvCxnSpPr>
          <p:nvPr/>
        </p:nvCxnSpPr>
        <p:spPr>
          <a:xfrm>
            <a:off x="670558" y="755709"/>
            <a:ext cx="10579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62A48AD-EDB4-4146-AF72-FE85086410C9}"/>
              </a:ext>
            </a:extLst>
          </p:cNvPr>
          <p:cNvSpPr/>
          <p:nvPr/>
        </p:nvSpPr>
        <p:spPr>
          <a:xfrm>
            <a:off x="1686038" y="713198"/>
            <a:ext cx="85014" cy="85021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47018-7F0A-10C5-1289-400A91A60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0769"/>
            <a:ext cx="12192000" cy="584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2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0415A9-7BDC-7A19-BD72-095746AB690A}"/>
              </a:ext>
            </a:extLst>
          </p:cNvPr>
          <p:cNvSpPr txBox="1"/>
          <p:nvPr/>
        </p:nvSpPr>
        <p:spPr>
          <a:xfrm>
            <a:off x="548640" y="355600"/>
            <a:ext cx="2419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Dashboard Overview</a:t>
            </a:r>
            <a:endParaRPr lang="en-IN" sz="2000" b="1" dirty="0">
              <a:solidFill>
                <a:srgbClr val="00206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1BC9F-E2A7-C56E-1737-F8AF63F757CC}"/>
              </a:ext>
            </a:extLst>
          </p:cNvPr>
          <p:cNvCxnSpPr>
            <a:cxnSpLocks/>
          </p:cNvCxnSpPr>
          <p:nvPr/>
        </p:nvCxnSpPr>
        <p:spPr>
          <a:xfrm>
            <a:off x="670558" y="755709"/>
            <a:ext cx="133522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3B04BE4-CA9F-F222-BC1D-3C8FE7A37809}"/>
              </a:ext>
            </a:extLst>
          </p:cNvPr>
          <p:cNvSpPr/>
          <p:nvPr/>
        </p:nvSpPr>
        <p:spPr>
          <a:xfrm>
            <a:off x="2007343" y="713198"/>
            <a:ext cx="85014" cy="85021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DC52D-6877-2E00-6D62-189523945624}"/>
              </a:ext>
            </a:extLst>
          </p:cNvPr>
          <p:cNvSpPr txBox="1"/>
          <p:nvPr/>
        </p:nvSpPr>
        <p:spPr>
          <a:xfrm>
            <a:off x="4149213" y="1465006"/>
            <a:ext cx="531427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Total Sales: </a:t>
            </a:r>
            <a:r>
              <a:rPr lang="en-US" b="1" dirty="0"/>
              <a:t>$12.64M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Total Profit: </a:t>
            </a:r>
            <a:r>
              <a:rPr lang="en-US" b="1" dirty="0"/>
              <a:t>$1.47M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Profit Margin: </a:t>
            </a:r>
            <a:r>
              <a:rPr lang="en-US" b="1" dirty="0"/>
              <a:t>11.62%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Total Orders: </a:t>
            </a:r>
            <a:r>
              <a:rPr lang="en-US" b="1" dirty="0"/>
              <a:t>51.29K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Technology category generated the highest sales.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Consumer segment contributed the highest revenue.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APAC was the top-performing market.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US" dirty="0"/>
              <a:t> Sales showed an upward trend toward year-end.</a:t>
            </a:r>
            <a:endParaRPr lang="en-IN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10D0217-4B4F-77FB-E4E0-E41155860789}"/>
              </a:ext>
            </a:extLst>
          </p:cNvPr>
          <p:cNvSpPr/>
          <p:nvPr/>
        </p:nvSpPr>
        <p:spPr>
          <a:xfrm>
            <a:off x="1060934" y="1465006"/>
            <a:ext cx="1335223" cy="1176962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B4CF9BA-01B9-092A-A922-6F0F73CE5C6B}"/>
              </a:ext>
            </a:extLst>
          </p:cNvPr>
          <p:cNvSpPr/>
          <p:nvPr/>
        </p:nvSpPr>
        <p:spPr>
          <a:xfrm>
            <a:off x="1172547" y="1550031"/>
            <a:ext cx="1111995" cy="1006911"/>
          </a:xfrm>
          <a:prstGeom prst="flowChartConnector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pic>
        <p:nvPicPr>
          <p:cNvPr id="15" name="Graphic 14" descr="Bar chart with solid fill">
            <a:extLst>
              <a:ext uri="{FF2B5EF4-FFF2-40B4-BE49-F238E27FC236}">
                <a16:creationId xmlns:a16="http://schemas.microsoft.com/office/drawing/2014/main" id="{300D8356-CA25-E57D-196A-7A35794AE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3979" y="1608921"/>
            <a:ext cx="829479" cy="8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2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3B0EEC-3484-47D7-E524-1B3CF1F97E83}"/>
              </a:ext>
            </a:extLst>
          </p:cNvPr>
          <p:cNvSpPr txBox="1"/>
          <p:nvPr/>
        </p:nvSpPr>
        <p:spPr>
          <a:xfrm>
            <a:off x="548640" y="355600"/>
            <a:ext cx="2304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Skills Demonstrated</a:t>
            </a:r>
            <a:endParaRPr lang="en-IN" sz="2000" b="1" dirty="0">
              <a:solidFill>
                <a:srgbClr val="00206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870C9B-875F-FD88-8680-62C5B2AB3EA5}"/>
              </a:ext>
            </a:extLst>
          </p:cNvPr>
          <p:cNvCxnSpPr>
            <a:cxnSpLocks/>
          </p:cNvCxnSpPr>
          <p:nvPr/>
        </p:nvCxnSpPr>
        <p:spPr>
          <a:xfrm>
            <a:off x="670558" y="755709"/>
            <a:ext cx="133522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95535882-435E-7B3F-2F23-53BDC560727F}"/>
              </a:ext>
            </a:extLst>
          </p:cNvPr>
          <p:cNvSpPr/>
          <p:nvPr/>
        </p:nvSpPr>
        <p:spPr>
          <a:xfrm>
            <a:off x="2007343" y="713198"/>
            <a:ext cx="85014" cy="85021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A6F54-3E62-2ADC-257B-E5BE2A912B68}"/>
              </a:ext>
            </a:extLst>
          </p:cNvPr>
          <p:cNvSpPr txBox="1"/>
          <p:nvPr/>
        </p:nvSpPr>
        <p:spPr>
          <a:xfrm>
            <a:off x="4316361" y="1465006"/>
            <a:ext cx="58993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Data Cleaning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Pivot Tables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Pivot Charts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KPI Cards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Slicers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Timeline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Dashboard Design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Business Analysis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en-IN" sz="2400" dirty="0"/>
              <a:t> Data Visualization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5CB293-6F61-20BC-0803-33CA764F0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32" y="1697510"/>
            <a:ext cx="3194501" cy="2129667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CB86C9-BC95-CD3C-2605-BD491386FBAE}"/>
              </a:ext>
            </a:extLst>
          </p:cNvPr>
          <p:cNvSpPr/>
          <p:nvPr/>
        </p:nvSpPr>
        <p:spPr>
          <a:xfrm>
            <a:off x="747251" y="5659839"/>
            <a:ext cx="7443020" cy="442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A27FE6-4E35-AEDC-9538-3627493D91AB}"/>
              </a:ext>
            </a:extLst>
          </p:cNvPr>
          <p:cNvSpPr txBox="1"/>
          <p:nvPr/>
        </p:nvSpPr>
        <p:spPr>
          <a:xfrm>
            <a:off x="2711824" y="5696399"/>
            <a:ext cx="351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Project Built Using Microsoft Excel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AE0D20-2E1E-0289-C7C0-2DA95142D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06" y="400429"/>
            <a:ext cx="1146691" cy="10683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12C514E-66D3-53D3-5063-8803D6979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355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58" y="5678119"/>
            <a:ext cx="405892" cy="40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0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107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Masoom Raza</dc:creator>
  <cp:lastModifiedBy>Masoom Raza</cp:lastModifiedBy>
  <cp:revision>1</cp:revision>
  <dcterms:created xsi:type="dcterms:W3CDTF">2026-08-06T17:53:27Z</dcterms:created>
  <dcterms:modified xsi:type="dcterms:W3CDTF">2026-08-06T19:50:56Z</dcterms:modified>
</cp:coreProperties>
</file>